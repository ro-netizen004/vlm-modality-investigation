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70" r:id="rId21"/>
    <p:sldId id="265" r:id="rId4"/>
    <p:sldId id="269" r:id="rId20"/>
    <p:sldId id="266" r:id="rId3"/>
    <p:sldId id="267" r:id="rId2"/>
    <p:sldId id="268" r:id="rId19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CB3B"/>
    <a:srgbClr val="009374"/>
    <a:srgbClr val="EDEBD1"/>
    <a:srgbClr val="006747"/>
    <a:srgbClr val="7E96A0"/>
    <a:srgbClr val="CAD2D8"/>
    <a:srgbClr val="80B0A6"/>
    <a:srgbClr val="005432"/>
    <a:srgbClr val="006484"/>
    <a:srgbClr val="DBE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90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1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80483-8405-594F-95F8-D3FBF1CBF066}" type="datetimeFigureOut">
              <a:rPr lang="en-US" smtClean="0"/>
              <a:t>7/23/24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D8171-8004-1F48-80C5-5F8F56F0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- Full Patter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4B3CE40-2622-4F41-8961-58114E223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350875"/>
            <a:ext cx="7886700" cy="2721942"/>
          </a:xfrm>
        </p:spPr>
        <p:txBody>
          <a:bodyPr anchor="b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3CEB366-DFFF-124E-8FB2-DD516677BB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8" y="3122192"/>
            <a:ext cx="7886700" cy="676142"/>
          </a:xfrm>
        </p:spPr>
        <p:txBody>
          <a:bodyPr>
            <a:normAutofit/>
          </a:bodyPr>
          <a:lstStyle>
            <a:lvl1pPr marL="0" indent="0">
              <a:buNone/>
              <a:defRPr sz="2000" b="1" spc="100" baseline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3F3BBD9-46E9-8D4F-A360-C22BF20FBA4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23888" y="6157797"/>
            <a:ext cx="7886700" cy="2973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effectLst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 Name // 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45DD4-339C-334E-8C02-D6D08DCD66D5}"/>
              </a:ext>
            </a:extLst>
          </p:cNvPr>
          <p:cNvSpPr/>
          <p:nvPr userDrawn="1"/>
        </p:nvSpPr>
        <p:spPr>
          <a:xfrm>
            <a:off x="729592" y="1041869"/>
            <a:ext cx="2224875" cy="45719"/>
          </a:xfrm>
          <a:prstGeom prst="rect">
            <a:avLst/>
          </a:prstGeom>
          <a:solidFill>
            <a:srgbClr val="9CC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CCB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28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- Patter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7F4A7CB-4718-A447-80A8-5473DB78B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371" y="2094614"/>
            <a:ext cx="9391983" cy="2934587"/>
          </a:xfrm>
        </p:spPr>
        <p:txBody>
          <a:bodyPr anchor="b">
            <a:normAutofit/>
          </a:bodyPr>
          <a:lstStyle>
            <a:lvl1pPr algn="l">
              <a:defRPr sz="6000" b="1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E5BDA0-03D1-C146-9B1B-7C72703AA1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45371" y="5164286"/>
            <a:ext cx="9391983" cy="562570"/>
          </a:xfrm>
        </p:spPr>
        <p:txBody>
          <a:bodyPr>
            <a:normAutofit/>
          </a:bodyPr>
          <a:lstStyle>
            <a:lvl1pPr marL="0" indent="0" algn="l">
              <a:buNone/>
              <a:defRPr sz="2000" b="1" spc="1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CF1996-1198-744A-8757-1DDCD1FC39F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645371" y="5998308"/>
            <a:ext cx="9391984" cy="317431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accent1"/>
                </a:solidFill>
                <a:effectLst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 Name // Date</a:t>
            </a:r>
          </a:p>
        </p:txBody>
      </p:sp>
    </p:spTree>
    <p:extLst>
      <p:ext uri="{BB962C8B-B14F-4D97-AF65-F5344CB8AC3E}">
        <p14:creationId xmlns:p14="http://schemas.microsoft.com/office/powerpoint/2010/main" val="157339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- Gradi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F41A4C7-71D0-F543-85C9-D64704F6B9E2}"/>
              </a:ext>
            </a:extLst>
          </p:cNvPr>
          <p:cNvSpPr txBox="1">
            <a:spLocks/>
          </p:cNvSpPr>
          <p:nvPr userDrawn="1"/>
        </p:nvSpPr>
        <p:spPr>
          <a:xfrm>
            <a:off x="1155514" y="2892056"/>
            <a:ext cx="9391983" cy="2137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765212-81AD-C342-9C12-8BB02A67A75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00009" y="4239253"/>
            <a:ext cx="9391983" cy="562570"/>
          </a:xfrm>
        </p:spPr>
        <p:txBody>
          <a:bodyPr>
            <a:normAutofit/>
          </a:bodyPr>
          <a:lstStyle>
            <a:lvl1pPr marL="0" indent="0" algn="ctr">
              <a:buNone/>
              <a:defRPr sz="2000" b="1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9F87BE-4311-2B4D-A077-360A5BDA2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400008" y="5073275"/>
            <a:ext cx="9391984" cy="317431"/>
          </a:xfrm>
        </p:spPr>
        <p:txBody>
          <a:bodyPr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effectLst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 Name // 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72D2B3-E9E1-8142-ACC5-5E65A9395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009" y="1966382"/>
            <a:ext cx="9391983" cy="2137145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18818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64" y="365125"/>
            <a:ext cx="11410507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64" y="1825625"/>
            <a:ext cx="11410507" cy="435133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745E4-CF50-F14A-9132-FCC34309C172}"/>
              </a:ext>
            </a:extLst>
          </p:cNvPr>
          <p:cNvSpPr/>
          <p:nvPr userDrawn="1"/>
        </p:nvSpPr>
        <p:spPr>
          <a:xfrm>
            <a:off x="0" y="6219913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09374"/>
              </a:solidFill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EAFC3AB-FC99-AE43-8446-A0A029A5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72B3ABB-4B87-4A4A-8769-A299692E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4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264" y="1799674"/>
            <a:ext cx="5541336" cy="435133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2701" y="1815735"/>
            <a:ext cx="5520070" cy="435133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79559-62B2-BF48-8F3A-9069A678D3AE}"/>
              </a:ext>
            </a:extLst>
          </p:cNvPr>
          <p:cNvSpPr/>
          <p:nvPr userDrawn="1"/>
        </p:nvSpPr>
        <p:spPr>
          <a:xfrm>
            <a:off x="0" y="6219913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F84629-2AEE-AC46-A2B9-D6494996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365125"/>
            <a:ext cx="11410507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1CC9F214-4B8F-A241-8F1B-D5E3B9778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229204AD-66DA-504B-8B4C-AA5187326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5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8307C2-269E-6B46-9210-24C46DB68A7C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9786AE96-593E-3F4B-956A-36180B15D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594D8FC-9BA2-7B43-8255-2E9B9355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81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9FDD1-20F6-A041-84EF-F23B06693DDB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8FE732FD-3F1B-8C41-AABB-86AC72BB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70483349-AF9B-3144-ABCA-85EEF730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6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93E3B2-14A7-1448-8CD6-3BBB6DBF6AA9}"/>
              </a:ext>
            </a:extLst>
          </p:cNvPr>
          <p:cNvSpPr/>
          <p:nvPr userDrawn="1"/>
        </p:nvSpPr>
        <p:spPr>
          <a:xfrm>
            <a:off x="0" y="6219913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8C2B3DFD-A919-2547-BB50-41E59A359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5E3EBCA8-C9B6-4146-BA77-60B44AEC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1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208D45BA-F118-4448-BA38-034BBE44445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-1"/>
            <a:ext cx="6096000" cy="6217468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/>
            </a:lvl1pPr>
          </a:lstStyle>
          <a:p>
            <a:pPr marL="228600" lvl="0" indent="-228600"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293F8-4E1A-5846-82A0-E53916ADD1FB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Content Placeholder 26">
            <a:extLst>
              <a:ext uri="{FF2B5EF4-FFF2-40B4-BE49-F238E27FC236}">
                <a16:creationId xmlns:a16="http://schemas.microsoft.com/office/drawing/2014/main" id="{CA685156-FE7B-2544-969A-7A1FCE2D18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265" y="1616151"/>
            <a:ext cx="5430253" cy="44994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189" indent="0">
              <a:buNone/>
              <a:defRPr sz="2000">
                <a:solidFill>
                  <a:schemeClr val="tx2"/>
                </a:solidFill>
              </a:defRPr>
            </a:lvl2pPr>
            <a:lvl3pPr marL="914377" indent="0">
              <a:buNone/>
              <a:defRPr sz="1800">
                <a:solidFill>
                  <a:schemeClr val="tx2"/>
                </a:solidFill>
              </a:defRPr>
            </a:lvl3pPr>
            <a:lvl4pPr marL="1371566" indent="0">
              <a:buNone/>
              <a:defRPr sz="1800">
                <a:solidFill>
                  <a:schemeClr val="tx2"/>
                </a:solidFill>
              </a:defRPr>
            </a:lvl4pPr>
            <a:lvl5pPr marL="1828755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AE3C7A5-D987-6642-8759-74EFF7EA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5" y="772701"/>
            <a:ext cx="5430254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D042DFD-B5BC-FA48-977F-CFCA7F7F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FA86EF7-130D-564A-B96B-825B85BF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7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64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6217467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4C1E35-476E-DC49-989E-58325A1DCCD5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052AC19-5F07-4D4A-9C6D-F8353253A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3659B61-A781-0B47-9008-7F6690FC4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47C7CC0E-96D9-6644-B53D-9DE9FFD2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28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3044858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150642"/>
            <a:ext cx="4651708" cy="3052708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DEA8F8-FC46-AE40-836E-1F1356373439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671B4F4-B7CE-4C4F-B7A3-2BC62CB88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304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D97DAD4-3DC5-9240-A8F4-0E40A6F3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304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A72233A2-CB91-9640-A9FB-40F031FB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DE837D9-31FB-6747-BB5D-30313C2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941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2022145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133604"/>
            <a:ext cx="4651708" cy="1981196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226259"/>
            <a:ext cx="4651708" cy="1982967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0A44D2-66BE-7D48-A9AA-5CD3E0CEFEC5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7ABA9CF-0A24-444C-AB70-18A7DF1F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64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5C99FBA0-60F6-434C-861C-F6CAF1C7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E0A42E5-B548-F448-93F1-22FA96290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93612A34-351C-3A40-8806-466A7A17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70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4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" y="-1"/>
            <a:ext cx="4651708" cy="197215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" y="2072643"/>
            <a:ext cx="2263242" cy="197215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7"/>
            <a:ext cx="4651709" cy="207217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88468" y="2072643"/>
            <a:ext cx="2263242" cy="197215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BBB07D-D36E-EF4E-8766-BDDCE6AD9879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46467BF-103E-D042-9F56-E8D47EC1F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816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5C606F1-D2F6-D546-8440-5F168D4D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816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F643ECD6-6049-594B-8CA6-9348B7B4B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3F176444-485B-9E48-AA69-93CB5928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08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50C326-F360-A14D-9848-141A98A3BE83}"/>
              </a:ext>
            </a:extLst>
          </p:cNvPr>
          <p:cNvSpPr/>
          <p:nvPr userDrawn="1"/>
        </p:nvSpPr>
        <p:spPr>
          <a:xfrm>
            <a:off x="0" y="1"/>
            <a:ext cx="12192000" cy="6855553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2585FEE-3C3C-0C4A-B489-9B8D843817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16" y="2493335"/>
            <a:ext cx="10497768" cy="1871330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/ Simple Break Section</a:t>
            </a:r>
          </a:p>
        </p:txBody>
      </p:sp>
    </p:spTree>
    <p:extLst>
      <p:ext uri="{BB962C8B-B14F-4D97-AF65-F5344CB8AC3E}">
        <p14:creationId xmlns:p14="http://schemas.microsoft.com/office/powerpoint/2010/main" val="1844150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adi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092343-A20F-9344-8BD6-7CDD800CA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16" y="2493335"/>
            <a:ext cx="10497768" cy="1871330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/ Simple Break Section</a:t>
            </a:r>
          </a:p>
        </p:txBody>
      </p:sp>
    </p:spTree>
    <p:extLst>
      <p:ext uri="{BB962C8B-B14F-4D97-AF65-F5344CB8AC3E}">
        <p14:creationId xmlns:p14="http://schemas.microsoft.com/office/powerpoint/2010/main" val="2771042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Full Patter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8D55C-89B3-834C-BFFF-D077C6375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16" y="2493335"/>
            <a:ext cx="10497768" cy="1871330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/ Simple Break Section</a:t>
            </a:r>
          </a:p>
        </p:txBody>
      </p:sp>
    </p:spTree>
    <p:extLst>
      <p:ext uri="{BB962C8B-B14F-4D97-AF65-F5344CB8AC3E}">
        <p14:creationId xmlns:p14="http://schemas.microsoft.com/office/powerpoint/2010/main" val="2792439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-3048" y="0"/>
            <a:ext cx="12198096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800" dirty="0"/>
            </a:lvl1pPr>
          </a:lstStyle>
          <a:p>
            <a:pPr marL="228600" lvl="0" indent="-228600" algn="ctr"/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71098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72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8F2DC234-8FA0-3D45-A2E6-8427DF8C1B9D}"/>
              </a:ext>
            </a:extLst>
          </p:cNvPr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423D6B-2263-1143-9038-996FA4197F05}"/>
              </a:ext>
            </a:extLst>
          </p:cNvPr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B17B4A7-CF1A-0C48-A592-305AD063C6A4}"/>
              </a:ext>
            </a:extLst>
          </p:cNvPr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67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5136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6B64B9-90AB-3045-9F9C-162A42097C10}"/>
              </a:ext>
            </a:extLst>
          </p:cNvPr>
          <p:cNvSpPr/>
          <p:nvPr userDrawn="1"/>
        </p:nvSpPr>
        <p:spPr>
          <a:xfrm>
            <a:off x="0" y="1"/>
            <a:ext cx="12192000" cy="6855553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66735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Gradi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048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687FF-D228-AF49-87D5-A473DBACE8EB}" type="datetime1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SOUTH FLORIDA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B0964-E4AE-1949-A7E1-C41B06CBF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0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6" r:id="rId2"/>
    <p:sldLayoutId id="2147483677" r:id="rId3"/>
    <p:sldLayoutId id="2147483662" r:id="rId4"/>
    <p:sldLayoutId id="2147483664" r:id="rId5"/>
    <p:sldLayoutId id="2147483663" r:id="rId6"/>
    <p:sldLayoutId id="2147483665" r:id="rId7"/>
    <p:sldLayoutId id="2147483668" r:id="rId8"/>
    <p:sldLayoutId id="2147483669" r:id="rId9"/>
    <p:sldLayoutId id="2147483678" r:id="rId10"/>
    <p:sldLayoutId id="2147483679" r:id="rId11"/>
    <p:sldLayoutId id="2147483680" r:id="rId12"/>
    <p:sldLayoutId id="2147483681" r:id="rId13"/>
    <p:sldLayoutId id="2147483666" r:id="rId14"/>
    <p:sldLayoutId id="2147483674" r:id="rId15"/>
    <p:sldLayoutId id="2147483675" r:id="rId16"/>
    <p:sldLayoutId id="2147483682" r:id="rId17"/>
    <p:sldLayoutId id="2147483683" r:id="rId18"/>
    <p:sldLayoutId id="2147483684" r:id="rId19"/>
    <p:sldLayoutId id="2147483667" r:id="rId20"/>
    <p:sldLayoutId id="2147483670" r:id="rId21"/>
    <p:sldLayoutId id="2147483685" r:id="rId22"/>
  </p:sldLayoutIdLst>
  <p:hf sldNum="0"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or Image?</a:t>
            </a:r>
          </a:p>
          <a:p>
            <a:r>
              <a:t>Task-Conditional Modality Dominance in VLMs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Progress update &amp; guidance discussion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Rodela Ghosh &amp; Aviral Gupta  //  July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0" sz="2200"/>
              <a:t>Recap: the research question and our setup</a:t>
            </a:r>
          </a:p>
          <a:p>
            <a:pPr/>
            <a:r>
              <a:rPr b="0" sz="2200"/>
              <a:t>Headline results across 8 models and 8 benchmarks</a:t>
            </a:r>
          </a:p>
          <a:p>
            <a:pPr/>
            <a:r>
              <a:rPr b="0" sz="2200"/>
              <a:t>Where we sit in a crowded related-work landscape</a:t>
            </a:r>
          </a:p>
          <a:p>
            <a:pPr/>
            <a:r>
              <a:rPr b="0" sz="2200"/>
              <a:t>Two proposed extensions — we'd love your steer</a:t>
            </a:r>
          </a:p>
          <a:p>
            <a:pPr/>
            <a:r>
              <a:rPr b="0" sz="2200"/>
              <a:t>Open questions for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0" sz="1800"/>
              <a:t>VLMs take both text and image input — but which one do they trust when the two disagree?</a:t>
            </a:r>
          </a:p>
          <a:p>
            <a:pPr/>
            <a:r>
              <a:rPr b="0" sz="1800"/>
              <a:t>Prior work shows a “modality gap”: accuracy drops when problems are shown as images instead of text</a:t>
            </a:r>
          </a:p>
          <a:p>
            <a:pPr/>
            <a:r>
              <a:rPr b="0" sz="1800"/>
              <a:t>Open question it leaves unanswered: is this a perception failure, or do models just default to text regardless of content?</a:t>
            </a:r>
          </a:p>
          <a:p>
            <a:pPr/>
            <a:r>
              <a:rPr b="0" sz="1800"/>
              <a:t>We need a setup where text and image make different, competing predictions — accuracy alone can't reveal preference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SETUP: THE MISMATCH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264" y="1750000"/>
            <a:ext cx="11410507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i="0">
                <a:solidFill>
                  <a:srgbClr val="222222"/>
                </a:solidFill>
              </a:rPr>
              <a:t>Pair the image of problem i with the text of a different problem i+1 — whichever answer the model gives reveals which modality it trusted.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2651760" cy="914400"/>
          </a:xfrm>
          <a:prstGeom prst="roundRect">
            <a:avLst/>
          </a:prstGeom>
          <a:solidFill>
            <a:srgbClr val="455F69"/>
          </a:solidFill>
          <a:ln>
            <a:solidFill>
              <a:srgbClr val="455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IMAGE
problem 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2651760" cy="914400"/>
          </a:xfrm>
          <a:prstGeom prst="roundRect">
            <a:avLst/>
          </a:prstGeom>
          <a:solidFill>
            <a:srgbClr val="455F69"/>
          </a:solidFill>
          <a:ln>
            <a:solidFill>
              <a:srgbClr val="455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TEXT
problem i+1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383280"/>
            <a:ext cx="1920240" cy="914400"/>
          </a:xfrm>
          <a:prstGeom prst="roundRect">
            <a:avLst/>
          </a:prstGeom>
          <a:solidFill>
            <a:srgbClr val="006747"/>
          </a:solidFill>
          <a:ln>
            <a:solidFill>
              <a:srgbClr val="0067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383280"/>
            <a:ext cx="3291840" cy="914400"/>
          </a:xfrm>
          <a:prstGeom prst="roundRect">
            <a:avLst/>
          </a:prstGeom>
          <a:solidFill>
            <a:srgbClr val="455F69"/>
          </a:solidFill>
          <a:ln>
            <a:solidFill>
              <a:srgbClr val="455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Which modality
did it follow?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788920"/>
            <a:ext cx="1280160" cy="914400"/>
          </a:xfrm>
          <a:prstGeom prst="line">
            <a:avLst/>
          </a:prstGeom>
          <a:ln w="22225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383280" y="3977639"/>
            <a:ext cx="1280160" cy="914401"/>
          </a:xfrm>
          <a:prstGeom prst="line">
            <a:avLst/>
          </a:prstGeom>
          <a:ln w="22225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0" y="3840480"/>
            <a:ext cx="1371599" cy="0"/>
          </a:xfrm>
          <a:prstGeom prst="line">
            <a:avLst/>
          </a:prstGeom>
          <a:ln w="22225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2264" y="5532120"/>
            <a:ext cx="114105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455F69"/>
                </a:solidFill>
              </a:rPr>
              <a:t>Two protocols: Protocol A — image is a redundant rendering of the text (GSM8K, SVAMP, MATH-500, AQuA-RAT). Protocol B — image carries information text lacks (MathVista, AI2D, ChartQA, ScienceQA).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b="0" sz="1400"/>
              <a:t>8 open-source VLMs, 2B–8B params, greedy decoding, bfloat16</a:t>
            </a:r>
          </a:p>
          <a:p>
            <a:pPr/>
            <a:r>
              <a:rPr b="1" sz="1400">
                <a:solidFill>
                  <a:srgbClr val="006747"/>
                </a:solidFill>
              </a:rPr>
              <a:t>Protocol A (rendered-text)</a:t>
            </a:r>
          </a:p>
          <a:p>
            <a:pPr lvl="1"/>
            <a:r>
              <a:rPr b="0" sz="1300"/>
              <a:t>GSM8K (N=1,319), SVAMP, MATH-500, AQuA-RAT</a:t>
            </a:r>
          </a:p>
          <a:p>
            <a:pPr/>
            <a:r>
              <a:rPr b="1" sz="1400">
                <a:solidFill>
                  <a:srgbClr val="006747"/>
                </a:solidFill>
              </a:rPr>
              <a:t>Protocol B (natural visual)</a:t>
            </a:r>
          </a:p>
          <a:p>
            <a:pPr lvl="1"/>
            <a:r>
              <a:rPr b="0" sz="1300"/>
              <a:t>MathVista, AI2D, ChartQA, ScienceQA</a:t>
            </a:r>
          </a:p>
          <a:p>
            <a:pPr/>
            <a:r>
              <a:rPr b="0" sz="1300"/>
              <a:t>All 8 models on GSM8K; 7/8 across the full 8-benchmark suite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&amp;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2264" y="1799674"/>
          <a:ext cx="5541335" cy="4351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9761"/>
                <a:gridCol w="1551574"/>
              </a:tblGrid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Model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Params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Qwen2-VL-2B-Instruct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2B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LLaVA-1.6-Mistral-7B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7B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Qwen2.5-VL-7B-Instruct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7B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Idefics3-8B-Llama3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8B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MiniCPM-V-2.6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8B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InternVL2-8B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8B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LLaVA-OneVision-Qwen2-7B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7B</a:t>
                      </a:r>
                    </a:p>
                  </a:txBody>
                  <a:tcPr anchor="ctr" marL="45720" marR="45720" marT="18288" marB="18288"/>
                </a:tc>
              </a:tr>
              <a:tr h="483483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Phi-3.5-Vision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4B</a:t>
                      </a:r>
                    </a:p>
                  </a:txBody>
                  <a:tcPr anchor="ctr" marL="45720" marR="45720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1 — WHEN VISION IS REDUNDANT, MODELS DEFAULT TO TEXT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2264" y="1799674"/>
          <a:ext cx="5541335" cy="4351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34"/>
                <a:gridCol w="1108267"/>
                <a:gridCol w="1108267"/>
                <a:gridCol w="1108267"/>
              </a:tblGrid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Model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Text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Image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Qwen2-VL-2B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.426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.400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−.026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LLaVA-1.6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.434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.291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−.143***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Qwen2.5-VL-7B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.845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.847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+.002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Idefics3-8B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.773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.280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−.493***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MiniCPM-V-2.6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.748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.601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−.147***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InternVL2-8B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.771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.776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+.005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LLaVA-OneVision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.790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.626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−.164***</a:t>
                      </a:r>
                    </a:p>
                  </a:txBody>
                  <a:tcPr anchor="ctr" marL="45720" marR="45720" marT="18288" marB="18288"/>
                </a:tc>
              </a:tr>
              <a:tr h="483483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Phi-3.5-Vision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.776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.727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−.049***</a:t>
                      </a:r>
                    </a:p>
                  </a:txBody>
                  <a:tcPr anchor="ctr" marL="45720" marR="45720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2264" y="6171013"/>
            <a:ext cx="5541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455F69"/>
                </a:solidFill>
              </a:rPr>
              <a:t>GSM8K accuracy: text-only vs. rendered image (*** p&lt;0.001)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92701" y="1815735"/>
          <a:ext cx="5520070" cy="4351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042"/>
                <a:gridCol w="2208028"/>
              </a:tblGrid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Model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Text pref.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Qwen2-VL-2B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98.8%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LLaVA-1.6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99.4%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Qwen2.5-VL-7B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99.4%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Idefics3-8B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99.4%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MiniCPM-V-2.6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99.5%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InternVL2-8B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96.2%</a:t>
                      </a:r>
                    </a:p>
                  </a:txBody>
                  <a:tcPr anchor="ctr" marL="45720" marR="45720" marT="18288" marB="18288"/>
                </a:tc>
              </a:tr>
              <a:tr h="483482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LLaVA-OneVision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99.8%</a:t>
                      </a:r>
                    </a:p>
                  </a:txBody>
                  <a:tcPr anchor="ctr" marL="45720" marR="45720" marT="18288" marB="18288"/>
                </a:tc>
              </a:tr>
              <a:tr h="483483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Phi-3.5-Vision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86.9%</a:t>
                      </a:r>
                    </a:p>
                  </a:txBody>
                  <a:tcPr anchor="ctr" marL="45720" marR="45720" marT="18288" marB="18288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92701" y="6187074"/>
            <a:ext cx="55200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455F69"/>
                </a:solidFill>
              </a:rPr>
              <a:t>Mismatch condition: text preference (after reasoning-trace rescore). Phi-3.5 is the one exception that engages the image more often.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2 — WHEN VISION IS INFORMATIVE, THE PATTERN REVERSES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2264" y="2008505"/>
          <a:ext cx="1141050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01"/>
                <a:gridCol w="2282101"/>
                <a:gridCol w="2282101"/>
                <a:gridCol w="2282101"/>
                <a:gridCol w="2282103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Model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MathVista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AI2D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ChartQA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ScienceQA</a:t>
                      </a:r>
                    </a:p>
                  </a:txBody>
                  <a:tcPr anchor="ctr" marL="45720" marR="45720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Qwen2-VL-2B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+.146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+.158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+.514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+.157</a:t>
                      </a:r>
                    </a:p>
                  </a:txBody>
                  <a:tcPr anchor="ctr" marL="45720" marR="45720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LLaVA-1.6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+.046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+.099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+.288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+.109</a:t>
                      </a:r>
                    </a:p>
                  </a:txBody>
                  <a:tcPr anchor="ctr" marL="45720" marR="45720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Qwen2.5-VL-7B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+.260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+.214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+.628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+.200</a:t>
                      </a:r>
                    </a:p>
                  </a:txBody>
                  <a:tcPr anchor="ctr" marL="45720" marR="45720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Idefics3-8B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+.159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+.158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+.464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+.218</a:t>
                      </a:r>
                    </a:p>
                  </a:txBody>
                  <a:tcPr anchor="ctr" marL="45720" marR="45720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MiniCPM-V-2.6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+.208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+.116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+.540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+.116</a:t>
                      </a:r>
                    </a:p>
                  </a:txBody>
                  <a:tcPr anchor="ctr" marL="45720" marR="45720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InternVL2-8B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+.176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+.234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+.406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+.298</a:t>
                      </a:r>
                    </a:p>
                  </a:txBody>
                  <a:tcPr anchor="ctr" marL="45720" marR="45720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LLaVA-OneVision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+.136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+.171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+.539</a:t>
                      </a:r>
                    </a:p>
                  </a:txBody>
                  <a:tcPr anchor="ctr"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+.240</a:t>
                      </a:r>
                    </a:p>
                  </a:txBody>
                  <a:tcPr anchor="ctr" marL="45720" marR="45720" marT="18288" marB="18288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2264" y="5483225"/>
            <a:ext cx="1141050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222222"/>
                </a:solidFill>
              </a:rPr>
              <a:t>Image advantage (image accuracy − text-only accuracy), all differences significant (p&lt;0.001). Gains are largest on ChartQA, where text-only accuracy is near zero — the question genuinely cannot be answered from text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Modality dominance is task-conditional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0" sz="1800"/>
              <a:t>VLMs aren’t text-first by design — they follow whichever modality is more informative for the task.</a:t>
            </a:r>
          </a:p>
          <a:p>
            <a:pPr/>
            <a:r>
              <a:rPr b="0" sz="1500">
                <a:solidFill>
                  <a:srgbClr val="455F69"/>
                </a:solidFill>
              </a:rPr>
              <a:t>Protocol A (redundant vision): 87–100% text preference     |     Protocol B (informative vision): +10–63pp image advantage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IS CROWDED — WE'RE POSITIONING CAREFULLY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500">
                <a:solidFill>
                  <a:srgbClr val="006747"/>
                </a:solidFill>
              </a:rPr>
              <a:t>Modality conflict</a:t>
            </a:r>
          </a:p>
          <a:p>
            <a:pPr lvl="1"/>
            <a:r>
              <a:rPr b="0" sz="1300"/>
              <a:t>Hua et al. (arXiv:2507.01790) — closest to our setup, but single-step perception, not multi-step reasoning</a:t>
            </a:r>
          </a:p>
          <a:p>
            <a:pPr lvl="1"/>
            <a:r>
              <a:rPr b="0" sz="1300"/>
              <a:t>Nguyen et al. (arXiv:2509.02805) — “can’t read it” vs. “won’t use it”</a:t>
            </a:r>
          </a:p>
          <a:p>
            <a:pPr lvl="1"/>
            <a:r>
              <a:rPr b="0" sz="1300"/>
              <a:t>Deng et al. (CVPR 2025, arXiv:2503.02199) — “blind faith in text” under text corruption</a:t>
            </a:r>
          </a:p>
          <a:p>
            <a:pPr lvl="1"/>
            <a:r>
              <a:rPr b="0" sz="1300"/>
              <a:t>Pezeshkpour et al. (arXiv:2504.08974) — preference shifts with question difficulty</a:t>
            </a:r>
          </a:p>
          <a:p>
            <a:pPr/>
            <a:r>
              <a:rPr b="1" sz="1500">
                <a:solidFill>
                  <a:srgbClr val="006747"/>
                </a:solidFill>
              </a:rPr>
              <a:t>Math + modality gap</a:t>
            </a:r>
          </a:p>
          <a:p>
            <a:pPr lvl="1"/>
            <a:r>
              <a:rPr b="0" sz="1300"/>
              <a:t>GSM8K-V, CrossMath, VISTA-Bench — document the gap, don’t isolate modality preference under conflict</a:t>
            </a:r>
          </a:p>
          <a:p>
            <a:pPr/>
            <a:r>
              <a:rPr b="1" sz="1500">
                <a:solidFill>
                  <a:srgbClr val="006747"/>
                </a:solidFill>
              </a:rPr>
              <a:t>Image quality / robustness</a:t>
            </a:r>
          </a:p>
          <a:p>
            <a:pPr lvl="1"/>
            <a:r>
              <a:rPr b="0" sz="1300"/>
              <a:t>Common Corruptions, VLM-RobustBench — measure accuracy under degradation, not preference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A RIGOROUS STUDY, NOT ONE BIG NEW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0" sz="1600"/>
              <a:t>The field is fast-moving and crowded — the realistic contribution here is breadth and rigor (task-conditional framing across 8 models × 8 benchmarks), not a single novel mechanism</a:t>
            </a:r>
          </a:p>
          <a:p>
            <a:pPr/>
            <a:r>
              <a:rPr b="0" sz="1600"/>
              <a:t>Current target: EACL 2027 (ARR cycle, Aug 3 2026 deadline), most likely landing in Findings</a:t>
            </a:r>
          </a:p>
          <a:p>
            <a:pPr/>
            <a:r>
              <a:rPr b="1" sz="1600">
                <a:solidFill>
                  <a:srgbClr val="006747"/>
                </a:solidFill>
              </a:rPr>
              <a:t>Question for you: does this scope and positioning make sense for EACL/Findings, or is there a better-fit venue?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ABLATION — RESILIENT VS. VULNERABLE (GSM8K, rendered image)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Text-only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Clean render (L0)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Heavy degrade (L5)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Pattern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Qwen2.5-VL-7B (resilient)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flat until L5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Qwen2-VL-2B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middling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LLaVA-1.6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collapsed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Idefics3-8B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collapsed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Resilient models read rendered text well and stay flat until heavy blur+noise (L5); vulnerable models are near-zero even on the clean render — their OCR fails before corruption matters. Across all models, L5 (blur+noise+contrast) hurts more than the combined worst-case (L9): corruption TYPE &gt; severity. This pipeline feeds the Legibility extension (Option 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WAYS TO MAKE THE PAPER MORE COMPLETE — YOUR STEER?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1: Legibility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b="0" sz="1400"/>
              <a:t>Progressively blur the image in the mismatch condition</a:t>
            </a:r>
          </a:p>
          <a:p>
            <a:pPr/>
            <a:r>
              <a:rPr b="0" sz="1400"/>
              <a:t>Does text preference track legibility, or is it a fixed bias regardless of image quality?</a:t>
            </a:r>
          </a:p>
          <a:p>
            <a:pPr/>
            <a:r>
              <a:rPr b="1" sz="1400">
                <a:solidFill>
                  <a:srgbClr val="006747"/>
                </a:solidFill>
              </a:rPr>
              <a:t>Cheap — the noise pipeline already exists and supports this (Phase 4/6 code)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2: Protocol completeness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>
            <a:pPr/>
            <a:r>
              <a:rPr b="0" sz="1400"/>
              <a:t>Mismatch test currently only runs on Protocol A (rendered-text benchmarks)</a:t>
            </a:r>
          </a:p>
          <a:p>
            <a:pPr/>
            <a:r>
              <a:rPr b="0" sz="1400"/>
              <a:t>Extend it to Protocol B: pair a real chart/diagram with a misleading text claim — does the model trust the image (which it needs) or the text?</a:t>
            </a:r>
          </a:p>
          <a:p>
            <a:pPr/>
            <a:r>
              <a:rPr b="1" sz="1400">
                <a:solidFill>
                  <a:srgbClr val="006747"/>
                </a:solidFill>
              </a:rPr>
              <a:t>Ties the whole paper to one question: do models follow whichever modality actually matters?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0" sz="1600"/>
              <a:t>Legibility vs. protocol completeness — which is the better use of our remaining time?</a:t>
            </a:r>
          </a:p>
          <a:p>
            <a:pPr/>
            <a:r>
              <a:rPr b="0" sz="1600"/>
              <a:t>Is EACL / Findings the right target, or should we consider a different venue given how crowded this space is?</a:t>
            </a:r>
          </a:p>
          <a:p>
            <a:pPr/>
            <a:r>
              <a:rPr b="0" sz="1600"/>
              <a:t>Are we differentiating clearly enough from the closest related work (Hua et al., Nguyen et al., Deng et al.)?</a:t>
            </a:r>
          </a:p>
          <a:p>
            <a:pPr/>
            <a:r>
              <a:rPr b="0" sz="1600"/>
              <a:t>Anything in the current draft that concerns you before we lock scope?</a:t>
            </a:r>
          </a:p>
          <a:p>
            <a:pPr/>
            <a:r>
              <a:t>SOTA baseline: we plan to add a frontier model (GPT-4o/Gemini) as a comparison — would lab API funding be available for this?</a:t>
            </a:r>
          </a:p>
          <a:p>
            <a:pPr/>
            <a:r>
              <a:t>Saturation reality: our literature search found every angle we tried is already covered. Is a rigorous systematic study (Findings) the right play, or do you see an angle we are missing?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0" sz="1600"/>
              <a:t>Draft is on Overleaf — you already have edit access</a:t>
            </a:r>
          </a:p>
          <a:p>
            <a:pPr/>
            <a:r>
              <a:rPr b="0" sz="1600"/>
              <a:t>Our availability: Tuesdays before 12:00 PM</a:t>
            </a:r>
          </a:p>
          <a:p>
            <a:pPr/>
            <a:r>
              <a:rPr b="0" sz="1600"/>
              <a:t>We’ll confirm Aviral’s availability shortly for scheduling follow-ups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OUR RESULTS RELATE TO PRIOR FINDINGS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595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474720"/>
                <a:gridCol w="320040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/>
                        <a:t>Prior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What they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How ours differs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/>
                        <a:t>GSM8K-V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Rendering GSM8K visually drops even Gemini-2.5-Pro 95%-&gt;47%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We render GSM8K too, but add conflict + 8 open models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/>
                        <a:t>CrossMath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Image+text degrades vs text-only; VLMs reason in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They use consistent formats; we put modalities in conflict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/>
                        <a:t>Deng et al. (CVPR25)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“Blind faith in text” persists under TEXT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We test the complement: degrade the IMAGE (legibility)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/>
                        <a:t>Pezeshkpour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Text on simple queries, image on complex (difficulty)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We vary image legibility, not task difficulty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/>
                        <a:t>Hua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Models favor one modality; router heads (perception)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We extend conflict to multi-step reasoning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754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Takeaway: each finding is individually covered. Our contribution is the systematic combination across 8 models x 8 benchmarks, plus the conflict + legibility angle none of them isolate.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SF 1">
      <a:dk1>
        <a:srgbClr val="000000"/>
      </a:dk1>
      <a:lt1>
        <a:srgbClr val="FFFFFF"/>
      </a:lt1>
      <a:dk2>
        <a:srgbClr val="455F69"/>
      </a:dk2>
      <a:lt2>
        <a:srgbClr val="C9D2D7"/>
      </a:lt2>
      <a:accent1>
        <a:srgbClr val="006747"/>
      </a:accent1>
      <a:accent2>
        <a:srgbClr val="EDEBD1"/>
      </a:accent2>
      <a:accent3>
        <a:srgbClr val="CFC393"/>
      </a:accent3>
      <a:accent4>
        <a:srgbClr val="9CCB3B"/>
      </a:accent4>
      <a:accent5>
        <a:srgbClr val="7E96A0"/>
      </a:accent5>
      <a:accent6>
        <a:srgbClr val="80B0A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29517</TotalTime>
  <Words>373</Words>
  <Application>Microsoft Macintosh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FreightSansLFPro</vt:lpstr>
      <vt:lpstr>Office Theme</vt:lpstr>
      <vt:lpstr>Presentation Title Here</vt:lpstr>
      <vt:lpstr>DIVIDER</vt:lpstr>
      <vt:lpstr>TITLE</vt:lpstr>
      <vt:lpstr>TWO COLUMN LAYOUT</vt:lpstr>
      <vt:lpstr>SINGLE PHOTO LAYOUT</vt:lpstr>
      <vt:lpstr>TWO-PHOTO LAYOUT</vt:lpstr>
      <vt:lpstr>THREE-PHOTO LAYOUT</vt:lpstr>
      <vt:lpstr>FOUR-PHOTO LAYOUT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DiMercurio, Kyrstin</dc:creator>
  <cp:lastModifiedBy>Brittany Self</cp:lastModifiedBy>
  <cp:revision>125</cp:revision>
  <dcterms:created xsi:type="dcterms:W3CDTF">2021-02-15T17:05:56Z</dcterms:created>
  <dcterms:modified xsi:type="dcterms:W3CDTF">2024-07-24T03:44:53Z</dcterms:modified>
</cp:coreProperties>
</file>